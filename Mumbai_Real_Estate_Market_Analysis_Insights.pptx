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Mumbai Real Estate Market Analysis</a:t>
            </a:r>
          </a:p>
        </p:txBody>
      </p:sp>
      <p:sp>
        <p:nvSpPr>
          <p:cNvPr id="3" name="Subtitle 2"/>
          <p:cNvSpPr>
            <a:spLocks noGrp="1"/>
          </p:cNvSpPr>
          <p:nvPr>
            <p:ph type="subTitle" idx="1"/>
          </p:nvPr>
        </p:nvSpPr>
        <p:spPr/>
        <p:txBody>
          <a:bodyPr/>
          <a:lstStyle/>
          <a:p>
            <a:r>
              <a:t>Dashboard Insights and Detailed Explanations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Dashboard Overview</a:t>
            </a:r>
          </a:p>
        </p:txBody>
      </p:sp>
      <p:sp>
        <p:nvSpPr>
          <p:cNvPr id="3" name="Content Placeholder 2"/>
          <p:cNvSpPr>
            <a:spLocks noGrp="1"/>
          </p:cNvSpPr>
          <p:nvPr>
            <p:ph idx="1"/>
          </p:nvPr>
        </p:nvSpPr>
        <p:spPr/>
        <p:txBody>
          <a:bodyPr/>
          <a:lstStyle/>
          <a:p>
            <a:r>
              <a:t>The Mumbai Real Estate Market Analysis dashboard provides a comprehensive view of the property market in Mumbai. It focuses on key indicators such as resale and new property counts, average prices per square foot, and bedroom-wise and location-wise analysis.</a:t>
            </a:r>
          </a:p>
          <a:p/>
          <a:p>
            <a:r>
              <a:t>The filters at the top allow users to narrow down the data by location, price range, area, and number of bedrooms, offering flexibility and deeper insights into the Mumbai property landscape.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Metrics Summary</a:t>
            </a:r>
          </a:p>
        </p:txBody>
      </p:sp>
      <p:sp>
        <p:nvSpPr>
          <p:cNvPr id="3" name="Content Placeholder 2"/>
          <p:cNvSpPr>
            <a:spLocks noGrp="1"/>
          </p:cNvSpPr>
          <p:nvPr>
            <p:ph idx="1"/>
          </p:nvPr>
        </p:nvSpPr>
        <p:spPr/>
        <p:txBody>
          <a:bodyPr/>
          <a:lstStyle/>
          <a:p>
            <a:r>
              <a:t>• Resale Properties: 4,187</a:t>
            </a:r>
          </a:p>
          <a:p>
            <a:r>
              <a:t>• New Properties: 2,169</a:t>
            </a:r>
          </a:p>
          <a:p>
            <a:r>
              <a:t>• Average Price per Sq. Ft: ₹15,090</a:t>
            </a:r>
          </a:p>
          <a:p>
            <a:r>
              <a:t>• Average Area: 1,000 Sq. Ft</a:t>
            </a:r>
          </a:p>
          <a:p/>
          <a:p>
            <a:r>
              <a:t>These figures provide a high-level snapshot of the market, indicating a balanced mix of new and resale listings. The average area of 1,000 sq. ft suggests a focus on mid-sized apartments across Mumbai.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10 Location-wise Average Price per Sq. Ft</a:t>
            </a:r>
          </a:p>
        </p:txBody>
      </p:sp>
      <p:sp>
        <p:nvSpPr>
          <p:cNvPr id="3" name="Content Placeholder 2"/>
          <p:cNvSpPr>
            <a:spLocks noGrp="1"/>
          </p:cNvSpPr>
          <p:nvPr>
            <p:ph idx="1"/>
          </p:nvPr>
        </p:nvSpPr>
        <p:spPr/>
        <p:txBody>
          <a:bodyPr/>
          <a:lstStyle/>
          <a:p>
            <a:r>
              <a:t>The chart highlights the top 10 Mumbai locations by average price per square foot:</a:t>
            </a:r>
          </a:p>
          <a:p>
            <a:r>
              <a:t>• Juhu, Worli, and Malabar Hill top the list with prices exceeding ₹80K per sq. ft.</a:t>
            </a:r>
          </a:p>
          <a:p>
            <a:r>
              <a:t>• Premium localities such as Bandra, Breach Candy, and Andheri maintain prices around ₹60K to ₹55K.</a:t>
            </a:r>
          </a:p>
          <a:p>
            <a:r>
              <a:t>• Locations like Mahim and Lower Parel offer relatively affordable luxury options in the ₹53K range.</a:t>
            </a:r>
          </a:p>
          <a:p/>
          <a:p>
            <a:r>
              <a:t>This variation indicates the diversity in Mumbai’s housing market, catering to both premium and mid-range buyers.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of Resale vs New Properties</a:t>
            </a:r>
          </a:p>
        </p:txBody>
      </p:sp>
      <p:sp>
        <p:nvSpPr>
          <p:cNvPr id="3" name="Content Placeholder 2"/>
          <p:cNvSpPr>
            <a:spLocks noGrp="1"/>
          </p:cNvSpPr>
          <p:nvPr>
            <p:ph idx="1"/>
          </p:nvPr>
        </p:nvSpPr>
        <p:spPr/>
        <p:txBody>
          <a:bodyPr/>
          <a:lstStyle/>
          <a:p>
            <a:r>
              <a:t>• Resale Properties make up approximately 65.9% of the total listings.</a:t>
            </a:r>
          </a:p>
          <a:p>
            <a:r>
              <a:t>• New Properties contribute around 34.1%.</a:t>
            </a:r>
          </a:p>
          <a:p/>
          <a:p>
            <a:r>
              <a:t>This shows that the secondary (resale) market remains dominant in Mumbai, though a considerable number of new developments are also being introduced, reflecting ongoing construction and redevelopment projects.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Bedroom-wise Price Insights</a:t>
            </a:r>
          </a:p>
        </p:txBody>
      </p:sp>
      <p:sp>
        <p:nvSpPr>
          <p:cNvPr id="3" name="Content Placeholder 2"/>
          <p:cNvSpPr>
            <a:spLocks noGrp="1"/>
          </p:cNvSpPr>
          <p:nvPr>
            <p:ph idx="1"/>
          </p:nvPr>
        </p:nvSpPr>
        <p:spPr/>
        <p:txBody>
          <a:bodyPr/>
          <a:lstStyle/>
          <a:p>
            <a:r>
              <a:t>The dashboard shows how prices scale with the number of bedrooms:</a:t>
            </a:r>
          </a:p>
          <a:p>
            <a:r>
              <a:t>• 1BHK: ₹10K per sq. ft.</a:t>
            </a:r>
          </a:p>
          <a:p>
            <a:r>
              <a:t>• 2BHK: ₹13K per sq. ft.</a:t>
            </a:r>
          </a:p>
          <a:p>
            <a:r>
              <a:t>• 3BHK: ₹18K per sq. ft.</a:t>
            </a:r>
          </a:p>
          <a:p>
            <a:r>
              <a:t>• 5BHK and larger: Around ₹28K per sq. ft.</a:t>
            </a:r>
          </a:p>
          <a:p/>
          <a:p>
            <a:r>
              <a:t>This reflects the premium buyers are willing to pay for larger units with luxury features and better locations.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Bedroom-wise Price Analysis Across Locations</a:t>
            </a:r>
          </a:p>
        </p:txBody>
      </p:sp>
      <p:sp>
        <p:nvSpPr>
          <p:cNvPr id="3" name="Content Placeholder 2"/>
          <p:cNvSpPr>
            <a:spLocks noGrp="1"/>
          </p:cNvSpPr>
          <p:nvPr>
            <p:ph idx="1"/>
          </p:nvPr>
        </p:nvSpPr>
        <p:spPr/>
        <p:txBody>
          <a:bodyPr/>
          <a:lstStyle/>
          <a:p>
            <a:r>
              <a:t>The trend line chart reveals variations in average prices across Mumbai regions:</a:t>
            </a:r>
          </a:p>
          <a:p>
            <a:r>
              <a:t>• South Mumbai areas like Worli and Upper Worli record the highest price per area (₹3.4K to ₹3.6K avg scale).</a:t>
            </a:r>
          </a:p>
          <a:p>
            <a:r>
              <a:t>• Suburban areas like Kalyan and Lower Parel offer more budget-friendly options.</a:t>
            </a:r>
          </a:p>
          <a:p/>
          <a:p>
            <a:r>
              <a:t>This demonstrates a clear spatial price gradient — premium prices in the south and more affordable options toward the suburbs.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Property Details and Amenities</a:t>
            </a:r>
          </a:p>
        </p:txBody>
      </p:sp>
      <p:sp>
        <p:nvSpPr>
          <p:cNvPr id="3" name="Content Placeholder 2"/>
          <p:cNvSpPr>
            <a:spLocks noGrp="1"/>
          </p:cNvSpPr>
          <p:nvPr>
            <p:ph idx="1"/>
          </p:nvPr>
        </p:nvSpPr>
        <p:spPr/>
        <p:txBody>
          <a:bodyPr/>
          <a:lstStyle/>
          <a:p>
            <a:r>
              <a:t>The property detail table lists each property's location, area, and amenities such as landscaped gardens, gymnasium, swimming pool, and clubhouse.</a:t>
            </a:r>
          </a:p>
          <a:p/>
          <a:p>
            <a:r>
              <a:t>Insights:</a:t>
            </a:r>
          </a:p>
          <a:p>
            <a:r>
              <a:t>• Most 1BHK and 2BHK properties are concentrated in areas like Airoli and Adiagoan.</a:t>
            </a:r>
          </a:p>
          <a:p>
            <a:r>
              <a:t>• Premium properties offer facilities such as indoor games, gymnasiums, and clubhouses.</a:t>
            </a:r>
          </a:p>
          <a:p>
            <a:r>
              <a:t>• Amenities are strong differentiators in price and buyer preference.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and Market Insights</a:t>
            </a:r>
          </a:p>
        </p:txBody>
      </p:sp>
      <p:sp>
        <p:nvSpPr>
          <p:cNvPr id="3" name="Content Placeholder 2"/>
          <p:cNvSpPr>
            <a:spLocks noGrp="1"/>
          </p:cNvSpPr>
          <p:nvPr>
            <p:ph idx="1"/>
          </p:nvPr>
        </p:nvSpPr>
        <p:spPr/>
        <p:txBody>
          <a:bodyPr/>
          <a:lstStyle/>
          <a:p>
            <a:r>
              <a:t>1. Mumbai’s real estate market shows a healthy balance between new and resale properties.</a:t>
            </a:r>
          </a:p>
          <a:p>
            <a:r>
              <a:t>2. Premium locations such as Juhu, Worli, and Malabar Hill dominate in terms of price per sq. ft.</a:t>
            </a:r>
          </a:p>
          <a:p>
            <a:r>
              <a:t>3. Larger units (5BHK+) attract higher per sq. ft. rates, reflecting luxury segment demand.</a:t>
            </a:r>
          </a:p>
          <a:p>
            <a:r>
              <a:t>4. South Mumbai remains the premium zone, while suburbs like Kalyan and Lower Parel provide affordability.</a:t>
            </a:r>
          </a:p>
          <a:p>
            <a:r>
              <a:t>5. Amenities significantly influence property pricing, especially in newly developed projects.</a:t>
            </a:r>
          </a:p>
          <a:p/>
          <a:p>
            <a:r>
              <a:t>Overall, the dashboard highlights Mumbai’s dynamic and segmented real estate landscape — catering to diverse buyer profiles from luxury seekers to mid-income families.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